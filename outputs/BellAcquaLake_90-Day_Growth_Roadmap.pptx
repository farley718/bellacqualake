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4-Year Avg</c:v>
                </c:pt>
              </c:strCache>
            </c:strRef>
          </c:tx>
          <c:spPr>
            <a:solidFill>
              <a:srgbClr val="1C7FB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E728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August</c:v>
                  </c:pt>
                  <c:pt idx="1">
                    <c:v>September</c:v>
                  </c:pt>
                  <c:pt idx="2">
                    <c:v>October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19525</c:v>
                </c:pt>
                <c:pt idx="1">
                  <c:v>22898</c:v>
                </c:pt>
                <c:pt idx="2">
                  <c:v>20179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$25K Target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E728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August</c:v>
                  </c:pt>
                  <c:pt idx="1">
                    <c:v>September</c:v>
                  </c:pt>
                  <c:pt idx="2">
                    <c:v>October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25000</c:v>
                </c:pt>
                <c:pt idx="1">
                  <c:v>25000</c:v>
                </c:pt>
                <c:pt idx="2">
                  <c:v>25000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5E728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0B2F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E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FB0"/>
              </a:solidFill>
              <a:effectLst/>
            </c:spPr>
          </c:dPt>
          <c:dPt>
            <c:idx val="1"/>
            <c:bubble3D val="0"/>
            <c:spPr>
              <a:solidFill>
                <a:srgbClr val="2FA9CE"/>
              </a:solidFill>
              <a:effectLst/>
            </c:spPr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Paid social (Meta) — Lead objective</c:v>
                </c:pt>
                <c:pt idx="1">
                  <c:v>Testing (new audiences + creative)</c:v>
                </c:pt>
                <c:pt idx="2">
                  <c:v>Giveaway / urgency offers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700</c:v>
                </c:pt>
                <c:pt idx="1">
                  <c:v>200</c:v>
                </c:pt>
                <c:pt idx="2">
                  <c:v>100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3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5.png"/><Relationship Id="rId6" Type="http://schemas.openxmlformats.org/officeDocument/2006/relationships/image" Target="../media/image-7-5.png"/><Relationship Id="rId7" Type="http://schemas.openxmlformats.org/officeDocument/2006/relationships/image" Target="../media/image-7-7.png"/><Relationship Id="rId8" Type="http://schemas.openxmlformats.org/officeDocument/2006/relationships/image" Target="../media/image-7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2286000" cy="13573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ACQUA LAKE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66928" y="2697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90-Day Growth Roadmap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66928" y="3794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client Growth Strategy into a week-by-week execution plan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– October 2026   ·   $1,000/mo working ad spend, engineered for ROI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66928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Anti-Gravity  ·  Companion to: Marketing &amp; Revenue Performance Analysis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ic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1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3891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Goal, and Why It Is Winnable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THESIS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55448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lead-generation problem — not a capacity or conversion problem.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boats, coaches, and 10 daily slots already exist and sit mostly idle. Hitting the numbers is about putting more qualified leads into a funnel that already converts — so every marketing dollar compounds into lessons, then memberships.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66928" y="2971800"/>
            <a:ext cx="267004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9FB8C8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3227832"/>
            <a:ext cx="658368" cy="658368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9" name="Image 1" descr="ic_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3385840"/>
            <a:ext cx="342351" cy="342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" y="3904488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$25K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676656" y="454456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/ month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76656" y="480060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Aug · Sep · Oct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401568" y="2971800"/>
            <a:ext cx="267004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9FB8C8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0" y="3227832"/>
            <a:ext cx="658368" cy="658368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15" name="Image 2" descr="ic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608" y="3385840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47288" y="3904488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3511296" y="454456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 memberships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511296" y="480060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Oct 31, 2026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36208" y="2971800"/>
            <a:ext cx="267004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9FB8C8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227832"/>
            <a:ext cx="658368" cy="658368"/>
          </a:xfrm>
          <a:prstGeom prst="ellipse">
            <a:avLst/>
          </a:prstGeom>
          <a:solidFill>
            <a:srgbClr val="C6871A"/>
          </a:solidFill>
          <a:ln/>
        </p:spPr>
      </p:sp>
      <p:pic>
        <p:nvPicPr>
          <p:cNvPr id="21" name="Image 3" descr="ic_anch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248" y="3385840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81928" y="3904488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8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$15K</a:t>
            </a:r>
            <a:endParaRPr lang="en-US" sz="4000" dirty="0"/>
          </a:p>
        </p:txBody>
      </p:sp>
      <p:sp>
        <p:nvSpPr>
          <p:cNvPr id="23" name="Text 17"/>
          <p:cNvSpPr/>
          <p:nvPr/>
        </p:nvSpPr>
        <p:spPr>
          <a:xfrm>
            <a:off x="6345936" y="454456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reserve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345936" y="480060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 to carry winter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070848" y="2971800"/>
            <a:ext cx="267004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9FB8C8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326880" y="3227832"/>
            <a:ext cx="658368" cy="658368"/>
          </a:xfrm>
          <a:prstGeom prst="ellipse">
            <a:avLst/>
          </a:prstGeom>
          <a:solidFill>
            <a:srgbClr val="E0743A"/>
          </a:solidFill>
          <a:ln/>
        </p:spPr>
      </p:sp>
      <p:pic>
        <p:nvPicPr>
          <p:cNvPr id="27" name="Image 4" descr="ic_megaph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4888" y="3385840"/>
            <a:ext cx="342351" cy="34235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16568" y="3904488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7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$1K</a:t>
            </a:r>
            <a:endParaRPr lang="en-US" sz="4000" dirty="0"/>
          </a:p>
        </p:txBody>
      </p:sp>
      <p:sp>
        <p:nvSpPr>
          <p:cNvPr id="29" name="Text 22"/>
          <p:cNvSpPr/>
          <p:nvPr/>
        </p:nvSpPr>
        <p:spPr>
          <a:xfrm>
            <a:off x="9180576" y="454456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ad spend / mo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9180576" y="480060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8× the recent average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566928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targets are one lever, not four: 15 members at the client’s ~$4,000 season value ≈ $60,000 — the membership push drives revenue and reserve at the same time.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3" name="Image 0" descr="ic_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1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3891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Behind the Target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NOT THE CONSTRAINT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1627632"/>
            <a:ext cx="475488" cy="475488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7" name="Image 1" descr="ic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45" y="1741749"/>
            <a:ext cx="247254" cy="247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591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slots / day open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88720" y="186537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Coaches, drivers and boats are already staffed to run all 10. The single busiest day this season used just 8.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66928" y="2834640"/>
            <a:ext cx="475488" cy="475488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11" name="Image 2" descr="ic_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45" y="2948757"/>
            <a:ext cx="247254" cy="2472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7980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idle days ahead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188720" y="307238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Aug–Oct window, most lesson capacity sits unused. The bottleneck is lead volume — leads need to roughly triple.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66928" y="4041648"/>
            <a:ext cx="475488" cy="475488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15" name="Image 3" descr="ic_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45" y="4155765"/>
            <a:ext cx="247254" cy="2472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4005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new high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88720" y="427939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has cleared $25K in 2 of the last 4 years. Doing it all three months is a record — reachable, but only on real lead volume.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12648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revenue: 4-year average vs. $25K target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126480" y="1600200"/>
          <a:ext cx="55321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0" name="Text 13"/>
          <p:cNvSpPr/>
          <p:nvPr/>
        </p:nvSpPr>
        <p:spPr>
          <a:xfrm>
            <a:off x="6126480" y="562356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i="1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trending down (2025 was the weakest year) — so the plan cannot rely on “better conversion on today’s traffic.” It needs more leads.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3" name="Image 0" descr="ic_fun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1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3891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Growth Funnel We Are Feeding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PROVEN PATH — EVERY STAGE ALREADY WORKS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8595360" cy="786384"/>
          </a:xfrm>
          <a:prstGeom prst="roundRect">
            <a:avLst>
              <a:gd name="adj" fmla="val 6977"/>
            </a:avLst>
          </a:prstGeom>
          <a:solidFill>
            <a:srgbClr val="2FA9CE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" y="1783080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  </a:t>
            </a:r>
            <a:pPr indent="0" marL="0">
              <a:buNone/>
            </a:pPr>
            <a:r>
              <a:rPr lang="en-US" sz="110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FB/IG lead form, DM or call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13448" y="178308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$1.81–$3 per lead</a:t>
            </a:r>
            <a:endParaRPr lang="en-US" sz="1150" dirty="0"/>
          </a:p>
        </p:txBody>
      </p:sp>
      <p:pic>
        <p:nvPicPr>
          <p:cNvPr id="9" name="Image 1" descr="ic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551176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6928" y="2697480"/>
            <a:ext cx="7040880" cy="786384"/>
          </a:xfrm>
          <a:prstGeom prst="roundRect">
            <a:avLst>
              <a:gd name="adj" fmla="val 6977"/>
            </a:avLst>
          </a:prstGeom>
          <a:solidFill>
            <a:srgbClr val="1C7FB0"/>
          </a:solidFill>
          <a:ln/>
        </p:spPr>
      </p:sp>
      <p:sp>
        <p:nvSpPr>
          <p:cNvPr id="11" name="Text 7"/>
          <p:cNvSpPr/>
          <p:nvPr/>
        </p:nvSpPr>
        <p:spPr>
          <a:xfrm>
            <a:off x="795528" y="2697480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BOOKING   </a:t>
            </a:r>
            <a:pPr indent="0" marL="0">
              <a:buNone/>
            </a:pPr>
            <a:r>
              <a:rPr lang="en-US" sz="110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Beg/Int lesson or ski ride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58968" y="269748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~62% margin · 10 slots/day</a:t>
            </a:r>
            <a:endParaRPr lang="en-US" sz="1150" dirty="0"/>
          </a:p>
        </p:txBody>
      </p:sp>
      <p:pic>
        <p:nvPicPr>
          <p:cNvPr id="13" name="Image 2" descr="ic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3465576"/>
            <a:ext cx="219456" cy="21945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66928" y="3611880"/>
            <a:ext cx="5486400" cy="786384"/>
          </a:xfrm>
          <a:prstGeom prst="roundRect">
            <a:avLst>
              <a:gd name="adj" fmla="val 6977"/>
            </a:avLst>
          </a:prstGeom>
          <a:solidFill>
            <a:srgbClr val="155F86"/>
          </a:solidFill>
          <a:ln/>
        </p:spPr>
      </p:sp>
      <p:sp>
        <p:nvSpPr>
          <p:cNvPr id="15" name="Text 10"/>
          <p:cNvSpPr/>
          <p:nvPr/>
        </p:nvSpPr>
        <p:spPr>
          <a:xfrm>
            <a:off x="795528" y="3611880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CLIENT   </a:t>
            </a:r>
            <a:pPr indent="0" marL="0">
              <a:buNone/>
            </a:pPr>
            <a:r>
              <a:rPr lang="en-US" sz="110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back for more lessons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904488" y="361188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~$1,000 avg spend</a:t>
            </a:r>
            <a:endParaRPr lang="en-US" sz="1150" dirty="0"/>
          </a:p>
        </p:txBody>
      </p:sp>
      <p:pic>
        <p:nvPicPr>
          <p:cNvPr id="17" name="Image 3" descr="ic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379976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66928" y="4526280"/>
            <a:ext cx="3931920" cy="786384"/>
          </a:xfrm>
          <a:prstGeom prst="roundRect">
            <a:avLst>
              <a:gd name="adj" fmla="val 6977"/>
            </a:avLst>
          </a:prstGeom>
          <a:solidFill>
            <a:srgbClr val="0B2F4A"/>
          </a:solidFill>
          <a:ln/>
        </p:spPr>
      </p:sp>
      <p:sp>
        <p:nvSpPr>
          <p:cNvPr id="19" name="Text 13"/>
          <p:cNvSpPr/>
          <p:nvPr/>
        </p:nvSpPr>
        <p:spPr>
          <a:xfrm>
            <a:off x="795528" y="4526280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  </a:t>
            </a:r>
            <a:pPr indent="0" marL="0">
              <a:buNone/>
            </a:pPr>
            <a:r>
              <a:rPr lang="en-US" sz="110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 — near-pure margin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2350008" y="452628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~$4,000 / season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235440" y="1783080"/>
            <a:ext cx="2395728" cy="3703320"/>
          </a:xfrm>
          <a:prstGeom prst="roundRect">
            <a:avLst>
              <a:gd name="adj" fmla="val 3053"/>
            </a:avLst>
          </a:prstGeom>
          <a:solidFill>
            <a:srgbClr val="0B2F4A"/>
          </a:solidFill>
          <a:ln/>
        </p:spPr>
      </p:sp>
      <p:sp>
        <p:nvSpPr>
          <p:cNvPr id="22" name="Shape 16"/>
          <p:cNvSpPr/>
          <p:nvPr/>
        </p:nvSpPr>
        <p:spPr>
          <a:xfrm>
            <a:off x="9464040" y="2011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4" descr="ic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5714" y="2143354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35440" y="26517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27.5%</a:t>
            </a:r>
            <a:endParaRPr lang="en-US" sz="3800" dirty="0"/>
          </a:p>
        </p:txBody>
      </p:sp>
      <p:sp>
        <p:nvSpPr>
          <p:cNvPr id="25" name="Text 18"/>
          <p:cNvSpPr/>
          <p:nvPr/>
        </p:nvSpPr>
        <p:spPr>
          <a:xfrm>
            <a:off x="9372600" y="32004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paying members came from a lesson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372600" y="379476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40 memberships, worth $28,222 in current contract value — dollar-backed proof the pathway works.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66928" y="57150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backward: ~150 lesson bookings this quarter (≈12/week) delivers 15 members at a conservative 1-in-10 rate — well within capacity. The job is filling the top of the funnel.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C6871A"/>
          </a:solidFill>
          <a:ln/>
        </p:spPr>
      </p:sp>
      <p:pic>
        <p:nvPicPr>
          <p:cNvPr id="3" name="Image 0" descr="ic_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1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3891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Every Marketing Dollar Compounds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 ENGINE — MARGIN BY PRODUCT LINE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  <a:effectLst>
            <a:outerShdw sx="100000" sy="100000" kx="0" ky="0" algn="bl" rotWithShape="0" blurRad="88900" dist="38100" dir="5400000">
              <a:srgbClr val="9FB8C8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2057400"/>
            <a:ext cx="603504" cy="603504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8" name="Image 1" descr="ic_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89" y="2202241"/>
            <a:ext cx="313822" cy="3138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20299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~62%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859536" y="27889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&amp; ski-ride margin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59536" y="3127248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paying instructors, drivers and fuel. Every extra booking is genuinely profitable — not a break-even lead-gen loss.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06824" y="17830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  <a:effectLst>
            <a:outerShdw sx="100000" sy="100000" kx="0" ky="0" algn="bl" rotWithShape="0" blurRad="88900" dist="38100" dir="5400000">
              <a:srgbClr val="9FB8C8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81144" y="2057400"/>
            <a:ext cx="603504" cy="603504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14" name="Image 2" descr="ic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985" y="2202241"/>
            <a:ext cx="313822" cy="31382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12664" y="20299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~100%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4599432" y="27889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&amp; rental margin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99432" y="3127248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Membership, lake rental and boat storage carry no direct cost in the P&amp;L — near-pure margin against fixed overhead.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46720" y="17830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  <a:effectLst>
            <a:outerShdw sx="100000" sy="100000" kx="0" ky="0" algn="bl" rotWithShape="0" blurRad="88900" dist="38100" dir="5400000">
              <a:srgbClr val="9FB8C8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21040" y="2057400"/>
            <a:ext cx="603504" cy="603504"/>
          </a:xfrm>
          <a:prstGeom prst="ellipse">
            <a:avLst/>
          </a:prstGeom>
          <a:solidFill>
            <a:srgbClr val="E0743A"/>
          </a:solidFill>
          <a:ln/>
        </p:spPr>
      </p:sp>
      <p:pic>
        <p:nvPicPr>
          <p:cNvPr id="20" name="Image 3" descr="ic_anch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5881" y="2202241"/>
            <a:ext cx="313822" cy="31382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52560" y="20299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$400/hr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8339328" y="27889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Private-event boat hire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339328" y="3127248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 cost is already sunk. A 3-hr charter grosses $1,200 at very high margin — no instructor needed, only driver + fuel.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66928" y="46177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3EEF4"/>
          </a:solidFill>
          <a:ln/>
        </p:spPr>
      </p:sp>
      <p:sp>
        <p:nvSpPr>
          <p:cNvPr id="25" name="Shape 19"/>
          <p:cNvSpPr/>
          <p:nvPr/>
        </p:nvSpPr>
        <p:spPr>
          <a:xfrm>
            <a:off x="859536" y="4892040"/>
            <a:ext cx="640080" cy="640080"/>
          </a:xfrm>
          <a:prstGeom prst="ellipse">
            <a:avLst/>
          </a:prstGeom>
          <a:solidFill>
            <a:srgbClr val="0B2F4A"/>
          </a:solidFill>
          <a:ln/>
        </p:spPr>
      </p:sp>
      <p:pic>
        <p:nvPicPr>
          <p:cNvPr id="26" name="Image 4" descr="ic_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155" y="504565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64208" y="47548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effect.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that pays for itself at ~62% margin is also the doorway to a membership sale that carries close to 100% incremental margin. That is why the plan pours budget into the top of the funnel: the first sale funds the acquisition, and the second sale is almost all profit.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E0743A"/>
          </a:solidFill>
          <a:ln/>
        </p:spPr>
      </p:sp>
      <p:pic>
        <p:nvPicPr>
          <p:cNvPr id="3" name="Image 0" descr="ic_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1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3891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$1,000 / Month Budget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THE RECENT WORKING AD SPEND — PROTECTED AND DEPLOYED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737360"/>
          <a:ext cx="4297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1801368" y="3246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$1,000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5212080" y="1874520"/>
            <a:ext cx="6400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40680" y="2331720"/>
            <a:ext cx="274320" cy="274320"/>
          </a:xfrm>
          <a:prstGeom prst="ellipse">
            <a:avLst/>
          </a:prstGeom>
          <a:solidFill>
            <a:srgbClr val="1C7FB0"/>
          </a:solidFill>
          <a:ln/>
        </p:spPr>
      </p:sp>
      <p:sp>
        <p:nvSpPr>
          <p:cNvPr id="10" name="Text 6"/>
          <p:cNvSpPr/>
          <p:nvPr/>
        </p:nvSpPr>
        <p:spPr>
          <a:xfrm>
            <a:off x="5852160" y="2002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$700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5852160" y="24231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— Meta, Lead objective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852160" y="2670048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winning Soccer-interest / affluent / frequent-traveler audience (~$1.81 CPL). Kill the duplicated “– Copy” sets. Static image creative first.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5212080" y="3172968"/>
            <a:ext cx="6400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40680" y="3630168"/>
            <a:ext cx="274320" cy="274320"/>
          </a:xfrm>
          <a:prstGeom prst="ellipse">
            <a:avLst/>
          </a:prstGeom>
          <a:solidFill>
            <a:srgbClr val="2FA9CE"/>
          </a:solidFill>
          <a:ln/>
        </p:spPr>
      </p:sp>
      <p:sp>
        <p:nvSpPr>
          <p:cNvPr id="15" name="Text 11"/>
          <p:cNvSpPr/>
          <p:nvPr/>
        </p:nvSpPr>
        <p:spPr>
          <a:xfrm>
            <a:off x="5852160" y="3300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A9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5852160" y="37216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budget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852160" y="3968496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audiences (boating/lake-life interest, lookalike from the member list) and new creative (aerial exclusivity angle).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5212080" y="4471416"/>
            <a:ext cx="6400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40680" y="4928616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6"/>
          <p:cNvSpPr/>
          <p:nvPr/>
        </p:nvSpPr>
        <p:spPr>
          <a:xfrm>
            <a:off x="5852160" y="4599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5852160" y="502005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Giveaway / urgency offers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852160" y="5266944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“X spots left” urgency mechanics on the giveaway format that already works.</a:t>
            </a:r>
            <a:endParaRPr lang="en-US" sz="1080" dirty="0"/>
          </a:p>
        </p:txBody>
      </p:sp>
      <p:sp>
        <p:nvSpPr>
          <p:cNvPr id="23" name="Text 19"/>
          <p:cNvSpPr/>
          <p:nvPr/>
        </p:nvSpPr>
        <p:spPr>
          <a:xfrm>
            <a:off x="566928" y="5943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7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Guardrail: ring-fence this as working ad spend. In H1 2026 real ad spend averaged ~$128/mo (with $0 in three months) while the budget was absorbed by agency fees, design and software. Protect it, or the plan stalls.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3" name="Image 0" descr="ic_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1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3891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Roadmap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ARC — THREE PHASES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162763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C7FB0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8" name="Image 1" descr="ic_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1978762"/>
            <a:ext cx="285293" cy="28529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2" descr="ic_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197510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27048" y="1847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527048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&amp; BUILD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41248" y="25786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ad engine on, stand up the follow-up sequence, secure renewals, design the private-event package.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315968" y="162763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2E8B6F"/>
          </a:solidFill>
          <a:ln/>
        </p:spPr>
      </p:sp>
      <p:sp>
        <p:nvSpPr>
          <p:cNvPr id="15" name="Shape 10"/>
          <p:cNvSpPr/>
          <p:nvPr/>
        </p:nvSpPr>
        <p:spPr>
          <a:xfrm>
            <a:off x="4572000" y="1847088"/>
            <a:ext cx="548640" cy="548640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16" name="Image 3" descr="ic_trend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74" y="1978762"/>
            <a:ext cx="285293" cy="285293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572000" y="18470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ic_trend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016" y="1975104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76088" y="1847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276088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TEST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4590288" y="25786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leads toward 3×, open partnerships and the private-event line, and start measuring real conversion rates.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8065008" y="162763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0743A"/>
          </a:solidFill>
          <a:ln/>
        </p:spPr>
      </p:sp>
      <p:sp>
        <p:nvSpPr>
          <p:cNvPr id="23" name="Shape 16"/>
          <p:cNvSpPr/>
          <p:nvPr/>
        </p:nvSpPr>
        <p:spPr>
          <a:xfrm>
            <a:off x="8321040" y="1847088"/>
            <a:ext cx="548640" cy="548640"/>
          </a:xfrm>
          <a:prstGeom prst="ellipse">
            <a:avLst/>
          </a:prstGeom>
          <a:solidFill>
            <a:srgbClr val="E0743A"/>
          </a:solidFill>
          <a:ln/>
        </p:spPr>
      </p:sp>
      <p:pic>
        <p:nvPicPr>
          <p:cNvPr id="24" name="Image 5" descr="ic_fla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2714" y="1978762"/>
            <a:ext cx="285293" cy="285293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321040" y="18470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6" descr="ic_fla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56" y="1975104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025128" y="1847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9025128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&amp; CLOSE</a:t>
            </a:r>
            <a:endParaRPr lang="en-US" sz="1700" dirty="0"/>
          </a:p>
        </p:txBody>
      </p:sp>
      <p:sp>
        <p:nvSpPr>
          <p:cNvPr id="29" name="Text 20"/>
          <p:cNvSpPr/>
          <p:nvPr/>
        </p:nvSpPr>
        <p:spPr>
          <a:xfrm>
            <a:off x="8339328" y="25786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quarter’s lesson clients into the 15 members, bank the $15K reserve, document the playbook.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566928" y="3886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TAGS — WHO IS IN CHARGE OF EACH TASK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566928" y="4279392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795528" y="4480560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1C7FB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618488" y="44439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795528" y="486460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Anti-Gravity: paid social, organic, creative, campaigns, copy, tracking</a:t>
            </a:r>
            <a:endParaRPr lang="en-US" sz="1080" dirty="0"/>
          </a:p>
        </p:txBody>
      </p:sp>
      <p:sp>
        <p:nvSpPr>
          <p:cNvPr id="35" name="Shape 26"/>
          <p:cNvSpPr/>
          <p:nvPr/>
        </p:nvSpPr>
        <p:spPr>
          <a:xfrm>
            <a:off x="3401568" y="4279392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3630168" y="4480560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4453128" y="44439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3630168" y="486460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staff: scheduling, booking portal, lesson &amp; event delivery</a:t>
            </a:r>
            <a:endParaRPr lang="en-US" sz="1080" dirty="0"/>
          </a:p>
        </p:txBody>
      </p:sp>
      <p:sp>
        <p:nvSpPr>
          <p:cNvPr id="39" name="Shape 30"/>
          <p:cNvSpPr/>
          <p:nvPr/>
        </p:nvSpPr>
        <p:spPr>
          <a:xfrm>
            <a:off x="6236208" y="4279392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6464808" y="4480560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C68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7287768" y="44439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6464808" y="486460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books: budget, collections, renewal invoicing, reserve</a:t>
            </a:r>
            <a:endParaRPr lang="en-US" sz="1080" dirty="0"/>
          </a:p>
        </p:txBody>
      </p:sp>
      <p:sp>
        <p:nvSpPr>
          <p:cNvPr id="43" name="Shape 34"/>
          <p:cNvSpPr/>
          <p:nvPr/>
        </p:nvSpPr>
        <p:spPr>
          <a:xfrm>
            <a:off x="9070848" y="4279392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9299448" y="4480560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0B2F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0122408" y="44439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 dirty="0"/>
          </a:p>
        </p:txBody>
      </p:sp>
      <p:sp>
        <p:nvSpPr>
          <p:cNvPr id="46" name="Text 37"/>
          <p:cNvSpPr/>
          <p:nvPr/>
        </p:nvSpPr>
        <p:spPr>
          <a:xfrm>
            <a:off x="9299448" y="486460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decisions: approvals, relationships, partnership &amp; referral asks</a:t>
            </a:r>
            <a:endParaRPr lang="en-US" sz="1080" dirty="0"/>
          </a:p>
        </p:txBody>
      </p:sp>
      <p:sp>
        <p:nvSpPr>
          <p:cNvPr id="47" name="Text 38"/>
          <p:cNvSpPr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cadence:  Mon — review CPL &amp; spend  ·  Midweek — optimize creative/audiences  ·  Fri — KPI snapshot &amp; budget reallocation.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3" name="Image 0" descr="ic_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1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3891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August — Sprint Board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052560" y="548640"/>
            <a:ext cx="2587752" cy="384048"/>
          </a:xfrm>
          <a:prstGeom prst="roundRect">
            <a:avLst>
              <a:gd name="adj" fmla="val 14286"/>
            </a:avLst>
          </a:prstGeom>
          <a:solidFill>
            <a:srgbClr val="1C7FB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BUILD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  <a:gridCol w="30175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50800" marB="50800" anchor="ctr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MOVES  (owner in charge)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50800" marB="50800" anchor="ctr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/ KPI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50800" marB="50800" anchor="ctr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1–7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Rebuild Meta campaign: consolidate to the winning Soccer/affluent audience, kill the “– Copy” sets, launch Lead objective.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static exclusivity creative (aerial “private lake”) + one testimonial ad.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&amp; ring-fence the $1,000/mo working ad budget.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engine live; budget protected.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8–14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CPL daily; pause any set &gt; $4 CPL, scale the winner toward 3× lead pace.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68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reminders: Bettencourt ($2,000) &amp; UC Davis Fall ($4,250), both due 8/15.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on the automated post-lesson membership follow-up (email + SMS).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8/15 renewals secured; leads flowing.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15–21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fixed weekly organic cadence on @bellacqualake1 (exclusivity + real proof), 3 posts/wk.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 / merge the duplicate Bell Acqua 2 &amp; 3 accounts into the main handle.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&amp; price the private-event package ($400/hr → $1,200/3hr); confirm driver + fuel cost.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cadence live; event package priced.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22–31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first test audience ($200): boating/lake-life + member lookalike; new aerial creative.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referral offer: $50–100 credit to members &amp; recent lesson clients.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68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Reconcile August: ad spend vs leads, revenue vs $25K, reserve contribution.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CPL set; referral live; Aug reviewed.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3" name="Image 0" descr="ic_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1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3891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— Sprint Board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052560" y="548640"/>
            <a:ext cx="2587752" cy="384048"/>
          </a:xfrm>
          <a:prstGeom prst="roundRect">
            <a:avLst>
              <a:gd name="adj" fmla="val 14286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TEST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  <a:gridCol w="30175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50800" marB="50800" anchor="ctr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MOVES  (owner in charge)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50800" marB="50800" anchor="ctr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/ KPI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50800" marB="50800" anchor="ctr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1–7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Reallocate to the lowest-CPL audience/creative; push lead volume toward 3× baseline.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Publicly launch the private-event package (booking page + inquiry form).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68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reminder: Savko ($3,250) due 9/1.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Private-event line live &amp; marketed.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8–14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2–3 group/institutional prospects (college ski teams, youth clubs, corporate) — the UC Davis model.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one-page group/seasonal sell sheet for those pitches.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68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reminders: Wolfe ($2,500, 9/8), Nolden ($2,000, 9/10).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partnership conversations opened.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15–21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lead-to-customer matching (“How did you hear about us?” + Meta lead list) to capture real conversion rates.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A/B the post-lesson membership pitch (offer vs. social proof).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lesson bookings toward the ~12/week pace the 15-member goal needs.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funnel conversion rates now measured.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22–30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September read: leads vs 3× target, CPL trend, cost-per-booking → set October budget split.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up partnership pitches; aim to close ≥ 1 group package.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68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reminder: Genetti ($2,400, 9/26); reconcile Sep revenue vs $25K + reserve.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target assessed; ≥1 partnership advancing.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E0743A"/>
          </a:solidFill>
          <a:ln/>
        </p:spPr>
      </p:sp>
      <p:pic>
        <p:nvPicPr>
          <p:cNvPr id="3" name="Image 0" descr="ic_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1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3891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— Sprint Board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052560" y="548640"/>
            <a:ext cx="2587752" cy="384048"/>
          </a:xfrm>
          <a:prstGeom prst="roundRect">
            <a:avLst>
              <a:gd name="adj" fmla="val 14286"/>
            </a:avLst>
          </a:prstGeom>
          <a:solidFill>
            <a:srgbClr val="E074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&amp; CLOSE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  <a:gridCol w="30175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50800" marB="50800" anchor="ctr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MOVES  (owner in charge)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50800" marB="50800" anchor="ctr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/ KPI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50800" marB="50800" anchor="ctr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</a:tr>
              <a:tr h="1014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1–7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membership-conversion push to ALL Aug–Sep lesson clients (email + SMS + warm call list).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68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reminder: Afrahi ($3,600) due 10/1.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07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campaign live to full lesson base.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4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8–14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outreach to highest-intent repeat clients (the proven $1K → $4K path).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Retarget non-converters with testimonial + member-value creative.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68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reminder: Leach ($2,400) due 10/8.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07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members closed tracked vs the 15 goal.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4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15–21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paid social on the winning audience; protect CPL; hold organic cadence.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remaining lesson capacity; sell off-peak private-event blocks that don’t compete.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68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Mid-October reserve check vs the $15K target.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07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 gap quantified; capacity up.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4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22–28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Last-call membership offer before winter; personal follow-ups on every open prospect.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68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Finalize collections; confirm which memberships land as cash by 10/31 vs installment.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07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count near / at 15.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4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29–31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68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the $15,000 reserve from net proceeds; final revenue reconciliation.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wrap report: CPL, leads, bookings, conversion rates, members, ROI on the $3K spend → scalable 2027 playbook.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07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members · $15K reserve · documented playbook.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3" name="Image 0" descr="ic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1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3891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KPI Scoreboard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 EVERY WEEK — LEADING AND LAGGING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169164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  <a:effectLst>
            <a:outerShdw sx="100000" sy="100000" kx="0" ky="0" algn="bl" rotWithShape="0" blurRad="76200" dist="25400" dir="5400000">
              <a:srgbClr val="9FB8C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8" name="Image 1" descr="ic_mega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09763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70048" y="1911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527048" y="20025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41248" y="26243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$3 (best set ~$1.81)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306824" y="169164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  <a:effectLst>
            <a:outerShdw sx="100000" sy="100000" kx="0" ky="0" algn="bl" rotWithShape="0" blurRad="76200" dist="25400" dir="5400000">
              <a:srgbClr val="9FB8C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62856" y="1965960"/>
            <a:ext cx="548640" cy="548640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14" name="Image 2" descr="ic_funn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530" y="209763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9944" y="1911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5266944" y="20025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month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581144" y="26243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~3× baseline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8046720" y="169164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  <a:effectLst>
            <a:outerShdw sx="100000" sy="100000" kx="0" ky="0" algn="bl" rotWithShape="0" blurRad="76200" dist="25400" dir="5400000">
              <a:srgbClr val="9FB8C8">
                <a:alpha val="2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02752" y="1965960"/>
            <a:ext cx="548640" cy="548640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20" name="Image 3" descr="ic_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4426" y="209763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149840" y="1911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9006840" y="20025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bookings / week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321040" y="26243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 (150 / quarter)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566928" y="3374136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  <a:effectLst>
            <a:outerShdw sx="100000" sy="100000" kx="0" ky="0" algn="bl" rotWithShape="0" blurRad="76200" dist="25400" dir="5400000">
              <a:srgbClr val="9FB8C8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3648456"/>
            <a:ext cx="548640" cy="548640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26" name="Image 4" descr="ic_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4" y="3780130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670048" y="35935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1527048" y="3685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members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841248" y="430682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by Oct 31</a:t>
            </a:r>
            <a:endParaRPr lang="en-US" sz="1700" dirty="0"/>
          </a:p>
        </p:txBody>
      </p:sp>
      <p:sp>
        <p:nvSpPr>
          <p:cNvPr id="30" name="Shape 23"/>
          <p:cNvSpPr/>
          <p:nvPr/>
        </p:nvSpPr>
        <p:spPr>
          <a:xfrm>
            <a:off x="4306824" y="3374136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  <a:effectLst>
            <a:outerShdw sx="100000" sy="100000" kx="0" ky="0" algn="bl" rotWithShape="0" blurRad="76200" dist="25400" dir="5400000">
              <a:srgbClr val="9FB8C8">
                <a:alpha val="2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562856" y="3648456"/>
            <a:ext cx="548640" cy="548640"/>
          </a:xfrm>
          <a:prstGeom prst="ellipse">
            <a:avLst/>
          </a:prstGeom>
          <a:solidFill>
            <a:srgbClr val="C6871A"/>
          </a:solidFill>
          <a:ln/>
        </p:spPr>
      </p:sp>
      <p:pic>
        <p:nvPicPr>
          <p:cNvPr id="32" name="Image 5" descr="ic_doll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4530" y="3780130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09944" y="35935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</a:t>
            </a:r>
            <a:endParaRPr lang="en-US" sz="850" dirty="0"/>
          </a:p>
        </p:txBody>
      </p:sp>
      <p:sp>
        <p:nvSpPr>
          <p:cNvPr id="34" name="Text 26"/>
          <p:cNvSpPr/>
          <p:nvPr/>
        </p:nvSpPr>
        <p:spPr>
          <a:xfrm>
            <a:off x="5266944" y="3685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month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4581144" y="430682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8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$25,000</a:t>
            </a:r>
            <a:endParaRPr lang="en-US" sz="1700" dirty="0"/>
          </a:p>
        </p:txBody>
      </p:sp>
      <p:sp>
        <p:nvSpPr>
          <p:cNvPr id="36" name="Shape 28"/>
          <p:cNvSpPr/>
          <p:nvPr/>
        </p:nvSpPr>
        <p:spPr>
          <a:xfrm>
            <a:off x="8046720" y="3374136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  <a:effectLst>
            <a:outerShdw sx="100000" sy="100000" kx="0" ky="0" algn="bl" rotWithShape="0" blurRad="76200" dist="25400" dir="5400000">
              <a:srgbClr val="9FB8C8">
                <a:alpha val="2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302752" y="3648456"/>
            <a:ext cx="548640" cy="548640"/>
          </a:xfrm>
          <a:prstGeom prst="ellipse">
            <a:avLst/>
          </a:prstGeom>
          <a:solidFill>
            <a:srgbClr val="C6871A"/>
          </a:solidFill>
          <a:ln/>
        </p:spPr>
      </p:sp>
      <p:pic>
        <p:nvPicPr>
          <p:cNvPr id="38" name="Image 6" descr="ic_ancho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4426" y="3780130"/>
            <a:ext cx="285293" cy="285293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149840" y="35935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5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</a:t>
            </a:r>
            <a:endParaRPr lang="en-US" sz="850" dirty="0"/>
          </a:p>
        </p:txBody>
      </p:sp>
      <p:sp>
        <p:nvSpPr>
          <p:cNvPr id="40" name="Text 31"/>
          <p:cNvSpPr/>
          <p:nvPr/>
        </p:nvSpPr>
        <p:spPr>
          <a:xfrm>
            <a:off x="9006840" y="3685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reserve</a:t>
            </a:r>
            <a:endParaRPr lang="en-US" sz="1350" dirty="0"/>
          </a:p>
        </p:txBody>
      </p:sp>
      <p:sp>
        <p:nvSpPr>
          <p:cNvPr id="41" name="Text 32"/>
          <p:cNvSpPr/>
          <p:nvPr/>
        </p:nvSpPr>
        <p:spPr>
          <a:xfrm>
            <a:off x="8321040" y="430682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8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$15,000 by Oct 31</a:t>
            </a:r>
            <a:endParaRPr lang="en-US" sz="1700" dirty="0"/>
          </a:p>
        </p:txBody>
      </p:sp>
      <p:sp>
        <p:nvSpPr>
          <p:cNvPr id="42" name="Shape 33"/>
          <p:cNvSpPr/>
          <p:nvPr/>
        </p:nvSpPr>
        <p:spPr>
          <a:xfrm>
            <a:off x="566928" y="516636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0B2F4A"/>
          </a:solidFill>
          <a:ln/>
        </p:spPr>
      </p:sp>
      <p:sp>
        <p:nvSpPr>
          <p:cNvPr id="43" name="Text 34"/>
          <p:cNvSpPr/>
          <p:nvPr/>
        </p:nvSpPr>
        <p:spPr>
          <a:xfrm>
            <a:off x="886968" y="5230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safety net: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EA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~$22,400 of existing memberships fall due inside this window. Securing them is a lower-effort path to the reserve than 15 cold members — the FIN reminder track runs all quarter.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E0743A"/>
          </a:solidFill>
          <a:ln/>
        </p:spPr>
      </p:sp>
      <p:pic>
        <p:nvPicPr>
          <p:cNvPr id="3" name="Image 0" descr="ic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1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3891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Dependencies &amp; Data to Close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234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SHARPEN THE PLAN — AND WHAT COULD STALL IT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16459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01952"/>
            <a:ext cx="530352" cy="530352"/>
          </a:xfrm>
          <a:prstGeom prst="ellipse">
            <a:avLst/>
          </a:prstGeom>
          <a:solidFill>
            <a:srgbClr val="E0743A"/>
          </a:solidFill>
          <a:ln/>
        </p:spPr>
      </p:sp>
      <p:pic>
        <p:nvPicPr>
          <p:cNvPr id="8" name="Image 1" descr="ic_mega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44" y="2029236"/>
            <a:ext cx="275783" cy="2757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9019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leakage (top risk)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41248" y="256032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$1K is reabsorbed into overhead like H1, the plan stalls. Ring-fence it as working ad spend.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841248" y="311810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· FIN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306824" y="16459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2856" y="1901952"/>
            <a:ext cx="530352" cy="530352"/>
          </a:xfrm>
          <a:prstGeom prst="ellipse">
            <a:avLst/>
          </a:prstGeom>
          <a:solidFill>
            <a:srgbClr val="1C7FB0"/>
          </a:solidFill>
          <a:ln/>
        </p:spPr>
      </p:sp>
      <p:pic>
        <p:nvPicPr>
          <p:cNvPr id="14" name="Image 2" descr="ic_sh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140" y="2029236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21224" y="19019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Lead-to-customer matching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81144" y="256032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a “how did you hear” field + Meta lead list exist (Week 7), true conversion rates stay assumptions.</a:t>
            </a:r>
            <a:endParaRPr lang="en-US" sz="1080" dirty="0"/>
          </a:p>
        </p:txBody>
      </p:sp>
      <p:sp>
        <p:nvSpPr>
          <p:cNvPr id="17" name="Text 12"/>
          <p:cNvSpPr/>
          <p:nvPr/>
        </p:nvSpPr>
        <p:spPr>
          <a:xfrm>
            <a:off x="4581144" y="311810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· OPS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046720" y="16459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02752" y="1901952"/>
            <a:ext cx="530352" cy="530352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20" name="Image 3" descr="ic_funn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036" y="2029236"/>
            <a:ext cx="275783" cy="27578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61120" y="19019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lesson-client count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321040" y="256032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convert the roster’s 27.5% into a true lesson→membership rate and forecast precisely.</a:t>
            </a:r>
            <a:endParaRPr lang="en-US" sz="1080" dirty="0"/>
          </a:p>
        </p:txBody>
      </p:sp>
      <p:sp>
        <p:nvSpPr>
          <p:cNvPr id="23" name="Text 17"/>
          <p:cNvSpPr/>
          <p:nvPr/>
        </p:nvSpPr>
        <p:spPr>
          <a:xfrm>
            <a:off x="8321040" y="311810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· OPS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66928" y="36118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3867912"/>
            <a:ext cx="530352" cy="530352"/>
          </a:xfrm>
          <a:prstGeom prst="ellipse">
            <a:avLst/>
          </a:prstGeom>
          <a:solidFill>
            <a:srgbClr val="C6871A"/>
          </a:solidFill>
          <a:ln/>
        </p:spPr>
      </p:sp>
      <p:pic>
        <p:nvPicPr>
          <p:cNvPr id="26" name="Image 4" descr="ic_doll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244" y="3995196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81328" y="38679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split: cash vs installment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41248" y="452628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how much of the 15-member goal shows up as cash by Oct 31 vs later — pin down for the reserve.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841248" y="508406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8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306824" y="36118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562856" y="3867912"/>
            <a:ext cx="530352" cy="530352"/>
          </a:xfrm>
          <a:prstGeom prst="ellipse">
            <a:avLst/>
          </a:prstGeom>
          <a:solidFill>
            <a:srgbClr val="2FA9CE"/>
          </a:solidFill>
          <a:ln/>
        </p:spPr>
      </p:sp>
      <p:pic>
        <p:nvPicPr>
          <p:cNvPr id="32" name="Image 5" descr="ic_ancho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140" y="3995196"/>
            <a:ext cx="275783" cy="27578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21224" y="38679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Private-event capacity &amp; cost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581144" y="452628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off-peak slots that won’t cannibalize lessons, plus real driver/fuel cost to lock margin.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4581144" y="508406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8046720" y="36118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FDEE7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302752" y="3867912"/>
            <a:ext cx="530352" cy="530352"/>
          </a:xfrm>
          <a:prstGeom prst="ellipse">
            <a:avLst/>
          </a:prstGeom>
          <a:solidFill>
            <a:srgbClr val="0B2F4A"/>
          </a:solidFill>
          <a:ln/>
        </p:spPr>
      </p:sp>
      <p:pic>
        <p:nvPicPr>
          <p:cNvPr id="38" name="Image 6" descr="ic_targ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0036" y="3995196"/>
            <a:ext cx="275783" cy="275783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961120" y="38679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the constraint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8321040" y="452628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capacity, not conversion. The whole plan lives or dies on lead volume — so budget protection is everything.</a:t>
            </a:r>
            <a:endParaRPr lang="en-US" sz="1080" dirty="0"/>
          </a:p>
        </p:txBody>
      </p:sp>
      <p:sp>
        <p:nvSpPr>
          <p:cNvPr id="41" name="Text 32"/>
          <p:cNvSpPr/>
          <p:nvPr/>
        </p:nvSpPr>
        <p:spPr>
          <a:xfrm>
            <a:off x="8321040" y="508406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WEEK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 that start the engine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603504" cy="603504"/>
          </a:xfrm>
          <a:prstGeom prst="ellipse">
            <a:avLst/>
          </a:prstGeom>
          <a:solidFill>
            <a:srgbClr val="C6871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057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35608" y="2075688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C68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· FIN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35608" y="2368296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A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ring-fence the $1,000/mo ad budget as working spend.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2843784"/>
            <a:ext cx="603504" cy="603504"/>
          </a:xfrm>
          <a:prstGeom prst="ellipse">
            <a:avLst/>
          </a:prstGeom>
          <a:solidFill>
            <a:srgbClr val="1C7FB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843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35608" y="2862072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1C7FB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35608" y="315468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A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Meta campaign — consolidate to the winner, kill the “– Copy” sets — and go live.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3630168"/>
            <a:ext cx="603504" cy="603504"/>
          </a:xfrm>
          <a:prstGeom prst="ellipse">
            <a:avLst/>
          </a:prstGeom>
          <a:solidFill>
            <a:srgbClr val="C6871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6301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35608" y="3648456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C687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35608" y="3941064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A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renewal-reminder calendar, starting with the 8/15 due dates (~$22,400 in-window).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4416552"/>
            <a:ext cx="603504" cy="603504"/>
          </a:xfrm>
          <a:prstGeom prst="ellipse">
            <a:avLst/>
          </a:prstGeom>
          <a:solidFill>
            <a:srgbClr val="1C7FB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416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35608" y="4434840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1C7FB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35608" y="4727448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A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automated post-lesson membership follow-up (email + SMS) into GoHighLevel.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66928" y="5202936"/>
            <a:ext cx="603504" cy="603504"/>
          </a:xfrm>
          <a:prstGeom prst="ellipse">
            <a:avLst/>
          </a:prstGeom>
          <a:solidFill>
            <a:srgbClr val="2E8B6F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02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35608" y="5221224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35608" y="5513832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A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“How did you hear about us?” field so we start capturing real funnel data now.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is proven and the capacity is paid for. From here it is execution — lead volume in, memberships out.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2026-07-23T13:34:05Z</dcterms:created>
  <dcterms:modified xsi:type="dcterms:W3CDTF">2026-07-23T13:34:05Z</dcterms:modified>
</cp:coreProperties>
</file>